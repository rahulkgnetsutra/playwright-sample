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RPORATE_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Playwright Automation Testing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86325"/>
            <a:ext cx="54864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Prepared by: Rahul Gupta | Senior QA Automation Architect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0" y="4886325"/>
            <a:ext cx="164592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78240" y="4912043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78240" y="4912043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47A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Playwright Automation Testing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0" y="30175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3F2FD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Modern End-to-End Web Automation Framework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0" y="50292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Rahul Gupta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Senior Software Engineer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>
              <a:lnSpc>
                <a:spcPts val="3200"/>
              </a:lnSpc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Introduction to Playwright</a:t>
            </a:r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Automation Testing?</a:t>
            </a:r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Playwright? (Comparison)</a:t>
            </a:r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 &amp; How it Works</a:t>
            </a:r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Structure &amp; Framework Design</a:t>
            </a:r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Automation Flows (Login &amp; Registration)</a:t>
            </a:r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Execution &amp; Reporting</a:t>
            </a:r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CI/CD Integration &amp; Future Roadmap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78240" y="4912043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Introduction to Playwright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>
              <a:lnSpc>
                <a:spcPts val="3200"/>
              </a:lnSpc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Developed by Microsoft – Backed by a powerful tech giant for continuous updates.</a:t>
            </a:r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Source – Completely free and heavily community-supported.</a:t>
            </a:r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End-to-End Testing – Automates the complete user journey from UI to backend.</a:t>
            </a:r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Cross-browser – Reliable testing across Chromium, Firefox, and WebKit.</a:t>
            </a:r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Cross-platform – Executes flawlessly on Windows, Linux, and macOS.</a:t>
            </a:r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Modern Target – Built perfectly for Single Page Apps (React, Angular).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78240" y="4912043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Automation Testing?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>
              <a:lnSpc>
                <a:spcPts val="3200"/>
              </a:lnSpc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Reduce Manual Testing - Eliminate repetitive and tedious QA regression suites.</a:t>
            </a:r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Faster Releases - Enables quicker feedback loops for Agile and DevOps.</a:t>
            </a:r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Increased Coverage - Run vast combinations of data concurrently.</a:t>
            </a:r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Continuous Testing - Forms the core pillar of proper CI/CD pipelines.</a:t>
            </a:r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Better Quality &amp; Consistency - Eliminates human error completely.</a:t>
            </a:r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Lower Cost - Significant long-term ROI by reducing manual QA hours by 85%.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78240" y="4912043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Playwright? (Comparison Grid)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  <a:gridCol w="2286000"/>
                <a:gridCol w="22860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Capability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6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Playwright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6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Selenium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6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Cypress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6D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Execution Speed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Very Fast (WebSocket)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Moderate (HTTP)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Fast (In-Browser)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Auto-Wait / Synch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Native &amp; Flawless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Explicit / Brittle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Native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Parallel Execution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Native Browser Contexts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Complex Grid Setup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External / Paid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Cross Browser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Chromium, Firefox, WebKit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All Major Browsers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Chromium, Firefox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Network Mocking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Full API Control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Extremely Difficult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Full Control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Mobile Emulation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Native Viewport &amp; Engine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Appium Required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Not Supported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Debugging Tooling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Trace Viewer (Time Travel)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Basic Console Logs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Time Travel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78240" y="4912043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Playwright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1828800"/>
            <a:ext cx="2286000" cy="914400"/>
          </a:xfrm>
          <a:prstGeom prst="rect">
            <a:avLst/>
          </a:prstGeom>
          <a:solidFill>
            <a:srgbClr val="1976D2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8288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Automation Script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(Node.js / Python)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383280" y="2103120"/>
            <a:ext cx="914400" cy="365760"/>
          </a:xfrm>
          <a:prstGeom prst="rightArrow">
            <a:avLst/>
          </a:prstGeom>
          <a:solidFill>
            <a:srgbClr val="BBBBBB"/>
          </a:solidFill>
          <a:ln/>
        </p:spPr>
      </p:sp>
      <p:sp>
        <p:nvSpPr>
          <p:cNvPr id="6" name="Shape 4"/>
          <p:cNvSpPr/>
          <p:nvPr/>
        </p:nvSpPr>
        <p:spPr>
          <a:xfrm>
            <a:off x="4480560" y="1371600"/>
            <a:ext cx="2286000" cy="1828800"/>
          </a:xfrm>
          <a:prstGeom prst="rect">
            <a:avLst/>
          </a:prstGeom>
          <a:solidFill>
            <a:srgbClr val="1565C0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80560" y="137160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Playwright API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(WebSocket Protocol)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949440" y="2103120"/>
            <a:ext cx="914400" cy="365760"/>
          </a:xfrm>
          <a:prstGeom prst="rightArrow">
            <a:avLst/>
          </a:prstGeom>
          <a:solidFill>
            <a:srgbClr val="BBBBBB"/>
          </a:solidFill>
          <a:ln/>
        </p:spPr>
      </p:sp>
      <p:sp>
        <p:nvSpPr>
          <p:cNvPr id="9" name="Shape 7"/>
          <p:cNvSpPr/>
          <p:nvPr/>
        </p:nvSpPr>
        <p:spPr>
          <a:xfrm>
            <a:off x="8046720" y="914400"/>
            <a:ext cx="1828800" cy="731520"/>
          </a:xfrm>
          <a:prstGeom prst="rect">
            <a:avLst/>
          </a:prstGeom>
          <a:solidFill>
            <a:srgbClr val="E3F2FD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9144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47A1"/>
                </a:solidFill>
              </a:rPr>
              <a:t>Chromium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46720" y="1828800"/>
            <a:ext cx="1828800" cy="731520"/>
          </a:xfrm>
          <a:prstGeom prst="rect">
            <a:avLst/>
          </a:prstGeom>
          <a:solidFill>
            <a:srgbClr val="E3F2FD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0" y="18288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47A1"/>
                </a:solidFill>
              </a:rPr>
              <a:t>Firefox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46720" y="2743200"/>
            <a:ext cx="1828800" cy="731520"/>
          </a:xfrm>
          <a:prstGeom prst="rect">
            <a:avLst/>
          </a:prstGeom>
          <a:solidFill>
            <a:srgbClr val="E3F2FD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0" y="27432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47A1"/>
                </a:solidFill>
              </a:rPr>
              <a:t>WebKit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Instead of sending individual HTTP requests, Playwright communicates with the browser over a single native WebSocket connection. This ensures lightning-fast execution.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78240" y="4912043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Playwright Works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>
              <a:lnSpc>
                <a:spcPts val="3200"/>
              </a:lnSpc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Write Test (TypeScript/JS, Java, Python, .NET).</a:t>
            </a:r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Launch Browser Context - Extremely fast, incognito-like isolated profiles.</a:t>
            </a:r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Navigate URL - Load the application dynamically.</a:t>
            </a:r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Locate Elements - Utilizing powerful built-in locators (Role, Text, TestId).</a:t>
            </a:r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Auto Waiting - Playwright waits until the element is completely actionable.</a:t>
            </a:r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Perform Actions - Clicking, filling, checking, dragging.</a:t>
            </a:r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7. Web-First Assertions - Retrying assertions until conditions are met.</a:t>
            </a:r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8. Generate Report - Detailed analytics, logs, traces, and metrics.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78240" y="4912043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Installation &amp; Environment Setup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6304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init playwright@latest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playwright test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playwright show-report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The installation process is seamless. A single command sets up the runner, installs browser binaries, and configures the fundamental project structure without complex WebDriver management.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78240" y="4912043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Playwright Project Structure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>
              <a:lnSpc>
                <a:spcPts val="3200"/>
              </a:lnSpc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/tests - Endpoint specifications (*.spec.ts) covering end-to-end flows.</a:t>
            </a:r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/pages - Page Object Model (POM) classes abstracting UI implementation.</a:t>
            </a:r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/fixtures - Setup/teardown custom test environments.</a:t>
            </a:r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/utils - Reusable helpers, database queries, and test data generators.</a:t>
            </a:r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/test-results - Execution artifacts (Videos, Traces, Screenshots).</a:t>
            </a:r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/playwright-report - Automatically generated HTML execution reports.</a:t>
            </a:r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playwright.config.ts - Core framework configuration (Timeouts, workers).</a:t>
            </a:r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package.json - Application dependencies and Node scripts.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78240" y="4912043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Automation Framework Architecture Pattern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>
              <a:lnSpc>
                <a:spcPts val="3200"/>
              </a:lnSpc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Page Object Model (POM): The industry-standard automation design.</a:t>
            </a:r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Decoupled Maintenance: UI locators are separated from the test assertions. If the UI changes, we only update the Page Object, leaving hundreds of test cases untouched.</a:t>
            </a:r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Reusable Components: Header components, Navigation sidebars, Date-pickers abstracted into singular models.</a:t>
            </a:r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Data-Driven: Test inputs are abstracted into JSON/CSV configurations to run the same script against multiple data sets.</a:t>
            </a:r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Execution Reporting: Unified tracking of execution health across all layers.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78240" y="4912043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Login Automation Flow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76D2"/>
                </a:solidFill>
              </a:rPr>
              <a:t>Start -&gt; Launch Context -&gt; Web Portal -&gt; Provide Credentials -&gt; Click Authenticate -&gt; Validate Dashboard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8229600" cy="2743200"/>
          </a:xfrm>
          <a:prstGeom prst="rect">
            <a:avLst/>
          </a:prstGeom>
          <a:solidFill>
            <a:srgbClr val="EEEEEE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666666"/>
                </a:solidFill>
              </a:rPr>
              <a:t>[ PLACEHOLDER: INSERT APPLICATION LOGIN SCREENSHOT HERE ]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78240" y="4912043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 Registration Automation Flow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76D2"/>
                </a:solidFill>
              </a:rPr>
              <a:t>Login -&gt; Access Registration Gateway -&gt; Fill Member Demographics -&gt; Configure Dependencies -&gt; Payment Gateway -&gt; Final Confirmation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3840480" cy="2743200"/>
          </a:xfrm>
          <a:prstGeom prst="rect">
            <a:avLst/>
          </a:prstGeom>
          <a:solidFill>
            <a:srgbClr val="EEEEEE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0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666666"/>
                </a:solidFill>
              </a:rPr>
              <a:t>[ PLACEHOLDER: FORM UI ]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846320" y="2011680"/>
            <a:ext cx="3840480" cy="2743200"/>
          </a:xfrm>
          <a:prstGeom prst="rect">
            <a:avLst/>
          </a:prstGeom>
          <a:solidFill>
            <a:srgbClr val="EEEEEE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0" y="2011680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666666"/>
                </a:solidFill>
              </a:rPr>
              <a:t>[ PLACEHOLDER: SUCCESS MODAL ]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78240" y="4912043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Execution Engine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>
              <a:lnSpc>
                <a:spcPts val="3200"/>
              </a:lnSpc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Command execution: npx playwright test --workers=4</a:t>
            </a:r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Parallel Execution: Playwright utilizes completely isolated 'Browser Contexts' to run tests highly concurrent.</a:t>
            </a:r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Multi-Browser: A single script can be orchestrated to run against Chromium, WebKit, and Firefox simultaneously.</a:t>
            </a:r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Headless vs Headed: Scripts run headlessly in CI/CD pipelines to conserve memory, but can be viewed visually in local Dev mode.</a:t>
            </a:r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Resiliency: Tests automatically capture retries in the event of flakiness.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78240" y="4912043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Native HTML Reporting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5486400" cy="3200400"/>
          </a:xfrm>
          <a:prstGeom prst="rect">
            <a:avLst/>
          </a:prstGeom>
          <a:solidFill>
            <a:srgbClr val="EEEEEE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5486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666666"/>
                </a:solidFill>
              </a:rPr>
              <a:t>[ PLACEHOLDER: HTML REPORT SCREENSHOT ]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217920" y="1371600"/>
            <a:ext cx="274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Report Capabilities: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Total Passed/Failed/Flaky counts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Accurate execution times per test case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Attached execution videos (WebM)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Full-page failure screenshots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78240" y="4912043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Playwright Trace Viewer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4572000" cy="3200400"/>
          </a:xfrm>
          <a:prstGeom prst="rect">
            <a:avLst/>
          </a:prstGeom>
          <a:solidFill>
            <a:srgbClr val="EEEEEE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45720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666666"/>
                </a:solidFill>
              </a:rPr>
              <a:t>[ PLACEHOLDER: TRACE VIEWER SCREENSHOT ]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03520" y="1371600"/>
            <a:ext cx="3200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The Ultimate Debugging Tool: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Time-travel timeline graph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Fully functioning DOM Snapshots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Step-by-step UI actions recording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Network requests/responses viewer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Action duration tracking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78240" y="4912043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CI/CD Automation Pipeline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2286000"/>
            <a:ext cx="1371600" cy="914400"/>
          </a:xfrm>
          <a:prstGeom prst="ellipse">
            <a:avLst/>
          </a:prstGeom>
          <a:solidFill>
            <a:srgbClr val="1976D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FFFFFF"/>
                </a:solidFill>
              </a:rPr>
              <a:t>Dev Push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1920240" y="2606040"/>
            <a:ext cx="457200" cy="274320"/>
          </a:xfrm>
          <a:prstGeom prst="rightArrow">
            <a:avLst/>
          </a:prstGeom>
          <a:solidFill>
            <a:srgbClr val="CCCCCC"/>
          </a:solidFill>
          <a:ln/>
        </p:spPr>
      </p:sp>
      <p:sp>
        <p:nvSpPr>
          <p:cNvPr id="6" name="Shape 4"/>
          <p:cNvSpPr/>
          <p:nvPr/>
        </p:nvSpPr>
        <p:spPr>
          <a:xfrm>
            <a:off x="2468880" y="2286000"/>
            <a:ext cx="1371600" cy="91440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7" name="Text 5"/>
          <p:cNvSpPr/>
          <p:nvPr/>
        </p:nvSpPr>
        <p:spPr>
          <a:xfrm>
            <a:off x="2468880" y="228600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FFFFFF"/>
                </a:solidFill>
              </a:rPr>
              <a:t>GitHub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931920" y="2606040"/>
            <a:ext cx="457200" cy="274320"/>
          </a:xfrm>
          <a:prstGeom prst="rightArrow">
            <a:avLst/>
          </a:prstGeom>
          <a:solidFill>
            <a:srgbClr val="CCCCCC"/>
          </a:solidFill>
          <a:ln/>
        </p:spPr>
      </p:sp>
      <p:sp>
        <p:nvSpPr>
          <p:cNvPr id="9" name="Shape 7"/>
          <p:cNvSpPr/>
          <p:nvPr/>
        </p:nvSpPr>
        <p:spPr>
          <a:xfrm>
            <a:off x="4480560" y="2286000"/>
            <a:ext cx="1371600" cy="9144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10" name="Text 8"/>
          <p:cNvSpPr/>
          <p:nvPr/>
        </p:nvSpPr>
        <p:spPr>
          <a:xfrm>
            <a:off x="4480560" y="228600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FFFFFF"/>
                </a:solidFill>
              </a:rPr>
              <a:t>Jenkins CI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943600" y="2606040"/>
            <a:ext cx="457200" cy="274320"/>
          </a:xfrm>
          <a:prstGeom prst="rightArrow">
            <a:avLst/>
          </a:prstGeom>
          <a:solidFill>
            <a:srgbClr val="CCCCCC"/>
          </a:solidFill>
          <a:ln/>
        </p:spPr>
      </p:sp>
      <p:sp>
        <p:nvSpPr>
          <p:cNvPr id="12" name="Shape 10"/>
          <p:cNvSpPr/>
          <p:nvPr/>
        </p:nvSpPr>
        <p:spPr>
          <a:xfrm>
            <a:off x="6492240" y="2286000"/>
            <a:ext cx="2286000" cy="91440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22860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FFFFFF"/>
                </a:solidFill>
              </a:rPr>
              <a:t>Playwright Execution &amp;</a:t>
            </a:r>
            <a:endParaRPr lang="en-US" dirty="0"/>
          </a:p>
          <a:p>
            <a:pPr algn="ctr" indent="0" marL="0">
              <a:buNone/>
            </a:pPr>
            <a:r>
              <a:rPr lang="en-US" dirty="0">
                <a:solidFill>
                  <a:srgbClr val="FFFFFF"/>
                </a:solidFill>
              </a:rPr>
              <a:t>Report Deployment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78240" y="4912043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Advantages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>
              <a:lnSpc>
                <a:spcPts val="3200"/>
              </a:lnSpc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Unmatched Reliability: Auto-waiting drastically eliminates 'flaky' scripts.</a:t>
            </a:r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Network Interception: Ability to completely mock, validate, or redirect HTTP endpoints without complex proxies.</a:t>
            </a:r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Web-first Assertions: Ensures the UI is physically ready before test validation.</a:t>
            </a:r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Native Emulation: Emulates device scaling and geolocation perfectly, not just simple viewport resizing.</a:t>
            </a:r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ROI: Highest return on QA investment compared to legacy frameworks.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78240" y="4912043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Framework Best Practices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>
              <a:lnSpc>
                <a:spcPts val="3200"/>
              </a:lnSpc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Page Object Model (POM): Strictly decoupling test assertion data from UI extraction logic.</a:t>
            </a:r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Environment Configuration: Storing all credentials in `.env` secure files and injecting dynamically.</a:t>
            </a:r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Resiliency Configuration: Setting smart granular timeouts rather than generic large blanket waits.</a:t>
            </a:r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Isolation: Each test operates independently; no test should rely on the state of a preceding test.</a:t>
            </a:r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Actionable Reporting: Firing critical Slack/Teams notifications only for legitimate regressions.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78240" y="4912043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 Automation Roadmap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>
              <a:lnSpc>
                <a:spcPts val="3200"/>
              </a:lnSpc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 Core Infrastructure: Introduce robust API layer testing alongside UI end-to-end testing.</a:t>
            </a:r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 Automation: Implement pixel-perfect, AI-driven visual regression tools.</a:t>
            </a:r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Mobile Cloud Grids: Expand executing matrices via external device clouds like BrowserStack/SauceLabs.</a:t>
            </a:r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Accessibility: Deep integration with 'axe-core' to validate WCAG compliance automatically.</a:t>
            </a:r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Performance Profiling: Automate Core Web Vitals checks as part of normal test CI executions.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78240" y="4912043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47A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28600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You. Questions?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0" y="36576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3F2FD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Prepared By: Rahul Gupta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Enterprise Testing Architecture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Playwright Automation Testing</dc:title>
  <dc:subject>PptxGenJS Presentation</dc:subject>
  <dc:creator>Rahul Gupta</dc:creator>
  <cp:lastModifiedBy>Rahul Gupta</cp:lastModifiedBy>
  <cp:revision>1</cp:revision>
  <dcterms:created xsi:type="dcterms:W3CDTF">2026-07-31T10:21:10Z</dcterms:created>
  <dcterms:modified xsi:type="dcterms:W3CDTF">2026-07-31T10:21:10Z</dcterms:modified>
</cp:coreProperties>
</file>