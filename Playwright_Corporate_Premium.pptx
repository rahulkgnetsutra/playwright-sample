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Playwright as the future of enterprise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topics briefly to set expectations for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Microsoft's backing and the modern SPA architecture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ROI (Return on Investment). Automation saves money long-term.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Playwright's absolute dominance in speed due to WebSockets, and its native capability to test multi-tab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Selenium which uses HTTP REST requests for each command, Playwright uses a single persistent WebSocket connection, removing handshake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Playwright's auto-waiting natively checks if an element is visible, stable, enabled, and receiving events before it ever attempts to click or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is highly modular and developer-friendly. Only one command needed to fetch drivers and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an enterprise level architecture strictly separates tests from locators via POM.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Page Object Model (POM). Tests never hold direct CSS/XPath locators to avoid high maintenance overheads.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represents the critical entrypoint of our pipeline. Authentication can also be injected via API to bypass UI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maps out complex UI components, verifying robust Angular elements and dynamic document uploads.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Browser Contexts make parallel execution safe. Contexts are spawned in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HTML report includes metrics for Total Passed/Failed, detailed logic flow, embedded screenshots, and recorded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Trace Viewer is a time-machine. You can slide through execution, inspect DOM, network intercepts, and console errors retroactively.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QA isn't manual; we shift-left. Every pull request runs the suite automatically on a pipeline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that Playwright brings enterprise trust back into automated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that even the best tool fails without right design patterns. POM and config isolation is crucial.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 is a journey. Mention shifting into testing REST APIs and Accessibility.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stakeholders and open the floor to technical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R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Automation Framework | Rahul Gupta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Automation Testing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Modern End-to-End Web Automation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Rahul Gupta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Software Engineer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What is Playwright?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Automation Testing &amp; Why Playwright?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Architecture &amp; Mechanics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Installation &amp; Framework Structure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Flows (Login, Registration)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Reporting, Trace Viewer &amp; Debugging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Integration &amp; Best Practices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Playwright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Microsoft – Backed by a powerful tech giant ensuring continuous updates.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– Completely free and heavily community-supported.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Testing – Automates the complete user journey from UI to backend.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Automation Framework – Built for the modern web (Single Page Apps, shadow DOM).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Cross-browser – Reliable testing across Chromium, Firefox, and WebKit.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– Executes flawlessly on Windows, Linux, and macOS.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Automation Testing?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Manual Testing: Automate repetitive and tedious regression suites.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Releases: Enables quicker feedback loops in Agile/DevOps.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Testing: Ensure existing functionalities do not break on new commits.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Testing: Core pillar of proper CI/CD pipelines.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Quality: Eliminates human error and enhances test accuracy.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Cost: Significant long-term ROI by reducing manual QA hours.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Playwright? (Comparison)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Selenium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 &amp; Comm.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Fast (WebSocket)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(HTTP D-Protocol)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 (In-Browser)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 Wait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(Actionability checks)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Requires explicit waits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Multi-Tab/Window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Support (Contexts)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 to manage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Supported natively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 Browser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Chromium, Firefox, WebKit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major drivers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Chromium, Firefox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Testing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viewport emulation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Appium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Supported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Mocking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API context 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Extremely Complicated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API 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Debugging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Trace Viewer (Time Travel)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Console logs / Basic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Time-travel dashboard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09728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097280"/>
            <a:ext cx="1828800" cy="2560320"/>
          </a:xfrm>
          <a:prstGeom prst="roundRect">
            <a:avLst/>
          </a:prstGeom>
          <a:solidFill>
            <a:srgbClr val="005A9E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806450000" dist="483870000" dir="972000000000">
              <a:srgbClr val="000000">
                <a:alpha val="3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0" y="2194560"/>
            <a:ext cx="91440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109728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241915000000" dist="6145149000000" dir="58320000000000000">
              <a:srgbClr val="000000">
                <a:alpha val="3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0" y="205740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30072320500000000" dist="78043392300000000" dir="3.4992e+21">
              <a:srgbClr val="000000">
                <a:alpha val="30000000000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301752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.65191847035e+21" dist="991151082210000000000" dir="2.09952e+26">
              <a:srgbClr val="000000">
                <a:alpha val="3e+24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Playwright Works (Automated Flow)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00584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2.0979364573445003e+25" dist="1.2587618744067e+25" dir="1.259712e+31">
              <a:srgbClr val="000000">
                <a:alpha val="3e+2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286000"/>
            <a:ext cx="1005840" cy="914400"/>
          </a:xfrm>
          <a:prstGeom prst="round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2.6643793008275154e+29" dist="1.598627580496509e+29" dir="7.558272e+35">
              <a:srgbClr val="000000">
                <a:alpha val="2.9999999999999997e+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2286000"/>
            <a:ext cx="100584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3.3837617120509443e+33" dist="2.0302570272305663e+33" dir="4.5349632e+40">
              <a:srgbClr val="000000">
                <a:alpha val="3e+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2286000"/>
            <a:ext cx="1005840" cy="914400"/>
          </a:xfrm>
          <a:prstGeom prst="round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4.297377374304699e+37" dist="2.578426424582819e+37" dir="2.72097792e+45">
              <a:srgbClr val="000000">
                <a:alpha val="3e+4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2286000"/>
            <a:ext cx="100584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.457669265366968e+41" dist="3.2746015592201804e+41" dir="1.632586752e+50">
              <a:srgbClr val="000000">
                <a:alpha val="2.9999999999999997e+4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286000"/>
            <a:ext cx="1005840" cy="914400"/>
          </a:xfrm>
          <a:prstGeom prst="round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6.93123996701605e+45" dist="4.158743980209629e+45" dir="9.795520512e+54">
              <a:srgbClr val="000000">
                <a:alpha val="2.9999999999999996e+5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2651760"/>
            <a:ext cx="18288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2286000"/>
            <a:ext cx="100584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8.802674758110384e+49" dist="5.281604854866228e+49" dir="5.8773123072e+59">
              <a:srgbClr val="000000">
                <a:alpha val="2.9999999999999996e+59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Installation &amp; Bootstrapping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.1179396942800187e+54" dist="6.70763816568011e+53" dir="3.52638738432e+64">
              <a:srgbClr val="000000">
                <a:alpha val="2.9999999999999996e+6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playwright@latest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show-report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 - Endpoint specifications (*.spec.ts) covering end-to-end flows.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/pages - Page Object Model (POM) classes abstracting UI implementation.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/fixtures - Setup/teardown custom test environments.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/utils - Reusable helpers, database queries, and test data generators.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/test-results - Execution artifacts (Videos, Traces, Screenshots).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/playwright-report - Automatically generated HTML execution reports.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playwright.config.ts - Core framework configuration (Timeouts, workers).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package.json - Application dependencies and Node scripts.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Framework Architecture (POM)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1.419783411735624e+58" dist="8.518700470413739e+57" dir="2.115832430592e+69">
              <a:srgbClr val="000000">
                <a:alpha val="2.9999999999999995e+6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8031249329042424e+62" dist="1.081874959742545e+62" dir="1.2694994583552e+74">
              <a:srgbClr val="000000">
                <a:alpha val="2.9999999999999995e+7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200400"/>
            <a:ext cx="3474720" cy="731520"/>
          </a:xfrm>
          <a:prstGeom prst="rect">
            <a:avLst/>
          </a:prstGeom>
          <a:solidFill>
            <a:srgbClr val="00A4EF"/>
          </a:solidFill>
          <a:ln/>
          <a:effectLst>
            <a:outerShdw sx="100000" sy="100000" kx="0" ky="0" algn="bl" rotWithShape="0" blurRad="2.289968664788388e+66" dist="1.373981198873032e+66" dir="7.6169967501312e+78">
              <a:srgbClr val="000000">
                <a:alpha val="3e+7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3200400"/>
            <a:ext cx="3474720" cy="731520"/>
          </a:xfrm>
          <a:prstGeom prst="rect">
            <a:avLst/>
          </a:prstGeom>
          <a:solidFill>
            <a:srgbClr val="00A4EF"/>
          </a:solidFill>
          <a:ln/>
          <a:effectLst>
            <a:outerShdw sx="100000" sy="100000" kx="0" ky="0" algn="bl" rotWithShape="0" blurRad="2.908260204281253e+70" dist="1.7449561225687507e+70" dir="4.57019805007872e+83">
              <a:srgbClr val="000000">
                <a:alpha val="2.9999999999999995e+84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Automation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182880" cy="2743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4572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3.693490459437191e+74" dist="2.2160942756623134e+74" dir="2.742118830047232e+88">
              <a:srgbClr val="000000">
                <a:alpha val="2.9999999999999996e+8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828800"/>
            <a:ext cx="182880" cy="2743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2011680" cy="4572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4.690732883485232e+78" dist="2.814439730091138e+78" dir="1.6452712980283393e+93">
              <a:srgbClr val="000000">
                <a:alpha val="2.9999999999999997e+9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560320"/>
            <a:ext cx="182880" cy="2743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34640"/>
            <a:ext cx="2011680" cy="4572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.957230762026245e+82" dist="3.574338457215745e+82" dir="9.871627788170035e+97">
              <a:srgbClr val="000000">
                <a:alpha val="2.9999999999999997e+9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3291840"/>
            <a:ext cx="182880" cy="2743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66160"/>
            <a:ext cx="2011680" cy="4572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.565683067773332e+86" dist="4.539409840663996e+86" dir="5.922976672902021e+102">
              <a:srgbClr val="000000">
                <a:alpha val="3e+10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4023360"/>
            <a:ext cx="182880" cy="2743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297680"/>
            <a:ext cx="2011680" cy="457200"/>
          </a:xfrm>
          <a:prstGeom prst="round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9.608417496072131e+90" dist="5.765050497643275e+90" dir="3.5537860037412126e+107">
              <a:srgbClr val="000000">
                <a:alpha val="2.9999999999999997e+10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548640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Automation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2202690220011606e+95" dist="7.321614132006959e+94" dir="2.1322716022447277e+112">
              <a:srgbClr val="000000">
                <a:alpha val="2.9999999999999995e+11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549741657941474e+99" dist="9.298449947648839e+98" dir="1.2793629613468367e+117">
              <a:srgbClr val="000000">
                <a:alpha val="2.9999999999999997e+11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9681719055856718e+103" dist="1.1809031433514024e+103" dir="7.67617776808102e+121">
              <a:srgbClr val="000000">
                <a:alpha val="2.9999999999999995e+1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904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2.4995783200938032e+107" dist="1.499746992056281e+107" dir="4.605706660848612e+126">
              <a:srgbClr val="000000">
                <a:alpha val="2.9999999999999997e+12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3.17446446651913e+111" dist="1.904678679911477e+111" dir="2.763423996509167e+131">
              <a:srgbClr val="000000">
                <a:alpha val="2.9999999999999996e+1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914400" cy="73152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4.0315698724792955e+115" dist="2.418941923487576e+115" dir="1.6580543979055003e+136">
              <a:srgbClr val="000000">
                <a:alpha val="2.9999999999999994e+13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371600"/>
            <a:ext cx="914400" cy="731520"/>
          </a:xfrm>
          <a:prstGeom prst="round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.120093738048705e+119" dist="3.0720562428292216e+119" dir="9.948326387433001e+140">
              <a:srgbClr val="000000">
                <a:alpha val="2.9999999999999996e+14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822960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Engine: npx playwright test --workers=4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Execution: Playwright utilizes completely isolated 'Browser Contexts'.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architecture ensures tests do not share cookies, cache, or local storage.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Multi-Browser: Execute simultaneously on Chromium, WebKit, and Firefox.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vs Headed modes natively supported out of the box.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HTML Reporting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via Trace Viewer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Automation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6.502519047321855e+123" dist="3.9015114283931116e+123" dir="5.9689958324598e+145">
              <a:srgbClr val="000000">
                <a:alpha val="2.9999999999999996e+14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2651760"/>
            <a:ext cx="182880" cy="182880"/>
          </a:xfrm>
          <a:prstGeom prst="rightArrow">
            <a:avLst/>
          </a:prstGeom>
          <a:solidFill>
            <a:srgbClr val="005A9E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8.258199190098756e+127" dist="4.954919514059251e+127" dir="3.58139749947588e+150">
              <a:srgbClr val="000000">
                <a:alpha val="2.9999999999999997e+15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71800" y="2651760"/>
            <a:ext cx="182880" cy="182880"/>
          </a:xfrm>
          <a:prstGeom prst="rightArrow">
            <a:avLst/>
          </a:prstGeom>
          <a:solidFill>
            <a:srgbClr val="005A9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0487912971425421e+132" dist="6.2927477828552495e+131" dir="2.148838499685528e+155">
              <a:srgbClr val="000000">
                <a:alpha val="2.9999999999999998e+1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0" y="2651760"/>
            <a:ext cx="182880" cy="182880"/>
          </a:xfrm>
          <a:prstGeom prst="rightArrow">
            <a:avLst/>
          </a:prstGeom>
          <a:solidFill>
            <a:srgbClr val="005A9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3319649473710286e+136" dist="7.991789684226167e+135" dir="1.2893030998113169e+160">
              <a:srgbClr val="000000">
                <a:alpha val="3e+16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2651760"/>
            <a:ext cx="182880" cy="182880"/>
          </a:xfrm>
          <a:prstGeom prst="rightArrow">
            <a:avLst/>
          </a:prstGeom>
          <a:solidFill>
            <a:srgbClr val="005A9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.6915954831612062e+140" dist="1.0149572898967231e+140" dir="7.735818598867901e+164">
              <a:srgbClr val="000000">
                <a:alpha val="3e+16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86600" y="2651760"/>
            <a:ext cx="182880" cy="182880"/>
          </a:xfrm>
          <a:prstGeom prst="rightArrow">
            <a:avLst/>
          </a:prstGeom>
          <a:solidFill>
            <a:srgbClr val="005A9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2286000"/>
            <a:ext cx="1097280" cy="91440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2.148326263614732e+144" dist="1.2889957581688384e+144" dir="4.641491159320741e+169">
              <a:srgbClr val="000000">
                <a:alpha val="3e+174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Advantages (The Playwright Edge)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Unmatched Reliability: Auto-waiting drastically eliminates 'flaky' scripts.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Interception: Ability to strictly mock, validate, or redirect HTTP endpoints.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Web-first Assertions: Ensures the UI is physically ready before test validation.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Emulation: Emulates device scaling and geolocation perfectly.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&amp; Maintenance: Highest return on QA investment compared to legacy drivers.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 Model (POM): Strictly decoupling test assertion data from UI extraction logic.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Configuration: Storing all credentials in `.env` configurations natively.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Resiliency Configuration: Setting smart granular timeouts rather than hardcoded `sleep` statements.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Testing: Inject JSON mock arrays into iterations cleanly.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Reporting: Setup Slack/Teams webhooks directly to engineering alerts.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Automation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Core Infrastructure: Build robust API validation controllers alongside UI flows.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Automation: Implement pixel-perfect visual regression checks natively.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Grids: Broaden matrix using device cloud infrastructures like BrowserStack.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Accessibility: Native integration with axe-core to validate WCAG compliance automatically.</a:t>
            </a:r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Audits: Capture Chrome DevTools (CDP) metrics alongside validation.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Prepared By: Rahul Gupta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Automation Architecture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Playwright Automation Framework</dc:subject>
  <dc:creator>Rahul Gupta</dc:creator>
  <cp:lastModifiedBy>Rahul Gupta</cp:lastModifiedBy>
  <cp:revision>1</cp:revision>
  <dcterms:created xsi:type="dcterms:W3CDTF">2026-07-31T12:22:00Z</dcterms:created>
  <dcterms:modified xsi:type="dcterms:W3CDTF">2026-07-31T12:22:00Z</dcterms:modified>
</cp:coreProperties>
</file>